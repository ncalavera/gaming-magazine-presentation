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EA8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50" y="397966"/>
            <a:ext cx="8635901" cy="4347567"/>
          </a:xfrm>
          <a:prstGeom prst="roundRect">
            <a:avLst>
              <a:gd name="adj" fmla="val 5842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85800" y="1159966"/>
            <a:ext cx="7772400" cy="1340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spcAft>
                <a:spcPts val="20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Журнал для игровой индустрии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85800" y="2754809"/>
            <a:ext cx="77724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Периодическое В2В издание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3488234"/>
            <a:ext cx="777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То, чего не было за 30 лет русскоязычного геймдева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651950" cy="1015901"/>
          </a:xfrm>
          <a:prstGeom prst="rect">
            <a:avLst/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46013"/>
            <a:ext cx="3641035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Контекст рынка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17450" y="1244352"/>
            <a:ext cx="867912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ключевых тезиса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17450" y="1574453"/>
            <a:ext cx="8508950" cy="1014859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41263" y="1574453"/>
            <a:ext cx="0" cy="1014859"/>
          </a:xfrm>
          <a:prstGeom prst="line">
            <a:avLst/>
          </a:prstGeom>
          <a:noFill/>
          <a:ln w="47625">
            <a:solidFill>
              <a:srgbClr val="FE44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576" y="1841004"/>
            <a:ext cx="84234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а) Пустота в В2В медиа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6576" y="2180630"/>
            <a:ext cx="8423490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рынке В2В медиа в РУ-геймдеве всегда было пусто. DTF умер как профсообщество, App2Top куплен Playrix.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7450" y="2652713"/>
            <a:ext cx="8508950" cy="1182439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41263" y="2652713"/>
            <a:ext cx="0" cy="1182439"/>
          </a:xfrm>
          <a:prstGeom prst="line">
            <a:avLst/>
          </a:prstGeom>
          <a:noFill/>
          <a:ln w="47625">
            <a:solidFill>
              <a:srgbClr val="FE44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576" y="2919264"/>
            <a:ext cx="84234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б) 30 лет без периодического В2В медиа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6576" y="3258889"/>
            <a:ext cx="8423490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30 лет существования геймдева на русском языке не было периодического В2В медиа. Игромания, Навигатор, Страна Игр — все В2С издания.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7450" y="3898553"/>
            <a:ext cx="8508950" cy="1014859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41263" y="3898553"/>
            <a:ext cx="0" cy="1014859"/>
          </a:xfrm>
          <a:prstGeom prst="line">
            <a:avLst/>
          </a:prstGeom>
          <a:noFill/>
          <a:ln w="47625">
            <a:solidFill>
              <a:srgbClr val="FE44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576" y="4165104"/>
            <a:ext cx="84234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в) Подтверждение спроса в 2024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6576" y="4504730"/>
            <a:ext cx="8423490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App2Top выпустили бумажный альманах игровой индустрии, который стал обсуждаемым событием.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651950" cy="10159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46013"/>
            <a:ext cx="4619265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Концепция журнала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26671" y="1333351"/>
            <a:ext cx="829050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Создать то, чего не было и что казалось бы уже никогда не случится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7950" y="1669852"/>
            <a:ext cx="8127950" cy="456902"/>
          </a:xfrm>
          <a:prstGeom prst="roundRect">
            <a:avLst>
              <a:gd name="adj" fmla="val 1667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27000" y="1669852"/>
            <a:ext cx="0" cy="456902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7551" y="1771352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FE44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9080" y="1826865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53852" y="1771352"/>
            <a:ext cx="6766390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Ежемесячное издание</a:t>
            </a:r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с четкой структурой и тематикой, затрагивающее ключевые события периода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7950" y="2202954"/>
            <a:ext cx="8127950" cy="566142"/>
          </a:xfrm>
          <a:prstGeom prst="roundRect">
            <a:avLst>
              <a:gd name="adj" fmla="val 1346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27000" y="2202954"/>
            <a:ext cx="0" cy="566142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551" y="2304455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FE44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39080" y="2359968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53852" y="2304455"/>
            <a:ext cx="7630159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Глубокая проработка тем</a:t>
            </a:r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с привлечением индустриальных экспертов. Не гонимся успеть опубликовать новости первыми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7950" y="2845296"/>
            <a:ext cx="8127950" cy="456902"/>
          </a:xfrm>
          <a:prstGeom prst="roundRect">
            <a:avLst>
              <a:gd name="adj" fmla="val 1667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27000" y="2845296"/>
            <a:ext cx="0" cy="456902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7551" y="2946797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FE44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39080" y="3002310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53852" y="2946797"/>
            <a:ext cx="5347776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Верстка в стиле игровых журналов из 2010-х</a:t>
            </a:r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ярко, красиво, удобно читать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7950" y="3378398"/>
            <a:ext cx="8127950" cy="456902"/>
          </a:xfrm>
          <a:prstGeom prst="roundRect">
            <a:avLst>
              <a:gd name="adj" fmla="val 1667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527000" y="3378398"/>
            <a:ext cx="0" cy="456902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7551" y="3479899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FE44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39080" y="3535412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53852" y="3479899"/>
            <a:ext cx="4737672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Уникальный формат издания</a:t>
            </a:r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яркое индустриальное событие года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7950" y="3911501"/>
            <a:ext cx="8127950" cy="456902"/>
          </a:xfrm>
          <a:prstGeom prst="roundRect">
            <a:avLst>
              <a:gd name="adj" fmla="val 1667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527000" y="3911501"/>
            <a:ext cx="0" cy="456902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7551" y="4013002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FE44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39080" y="4068514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53852" y="4013002"/>
            <a:ext cx="5172745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Разбор основных тем</a:t>
            </a:r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от индустриальных экспертов, не только журналистов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7950" y="4444603"/>
            <a:ext cx="8127950" cy="456902"/>
          </a:xfrm>
          <a:prstGeom prst="roundRect">
            <a:avLst>
              <a:gd name="adj" fmla="val 1667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527000" y="4444603"/>
            <a:ext cx="0" cy="456902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7551" y="4546104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FE44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739080" y="4601617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53852" y="4546104"/>
            <a:ext cx="4727653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 guests</a:t>
            </a:r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Врен, Подшибякин, Перевозчиков, Янович, Логвинов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651950" cy="1015901"/>
          </a:xfrm>
          <a:prstGeom prst="rect">
            <a:avLst/>
          </a:prstGeom>
          <a:solidFill>
            <a:srgbClr val="FE44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46013"/>
            <a:ext cx="4470193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Структура выпуска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206401"/>
            <a:ext cx="8127950" cy="514350"/>
          </a:xfrm>
          <a:prstGeom prst="roundRect">
            <a:avLst>
              <a:gd name="adj" fmla="val 19753"/>
            </a:avLst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82119" y="1358801"/>
            <a:ext cx="797961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~40 тысяч знаков «чистого» текста на выпуск (30 страниц журнала)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7950" y="1936552"/>
            <a:ext cx="2641699" cy="856655"/>
          </a:xfrm>
          <a:prstGeom prst="roundRect">
            <a:avLst>
              <a:gd name="adj" fmla="val 889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07950" y="1955602"/>
            <a:ext cx="2641699" cy="0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4901" y="2101602"/>
            <a:ext cx="243555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Новости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4901" y="2336453"/>
            <a:ext cx="2435554" cy="32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разворота
</a:t>
            </a:r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4 страницы → ~8 тыс. знаков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51150" y="1936552"/>
            <a:ext cx="2641699" cy="856655"/>
          </a:xfrm>
          <a:prstGeom prst="roundRect">
            <a:avLst>
              <a:gd name="adj" fmla="val 889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251150" y="1955602"/>
            <a:ext cx="2641699" cy="0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78101" y="2101602"/>
            <a:ext cx="243555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Главная тема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78101" y="2336453"/>
            <a:ext cx="2435554" cy="32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3–4 лонгрида по развороту каждый
</a:t>
            </a:r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~16 тыс. знаков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94350" y="1936552"/>
            <a:ext cx="2641699" cy="856655"/>
          </a:xfrm>
          <a:prstGeom prst="roundRect">
            <a:avLst>
              <a:gd name="adj" fmla="val 889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994350" y="1955602"/>
            <a:ext cx="2641699" cy="0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1301" y="2101602"/>
            <a:ext cx="243555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Интервью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21301" y="2336453"/>
            <a:ext cx="2435554" cy="32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 интервью по 2 страницы
</a:t>
            </a:r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~8 тыс. знаков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7950" y="2894707"/>
            <a:ext cx="8127950" cy="856655"/>
          </a:xfrm>
          <a:prstGeom prst="roundRect">
            <a:avLst>
              <a:gd name="adj" fmla="val 889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07950" y="2913757"/>
            <a:ext cx="8127950" cy="0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4901" y="3059757"/>
            <a:ext cx="80315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Дополнительные темы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4901" y="3294608"/>
            <a:ext cx="8031531" cy="32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Ещё 2 разворота
</a:t>
            </a:r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~8 тыс. знаков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651950" cy="10159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46013"/>
            <a:ext cx="515559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Редакционный состав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68898" y="1079302"/>
            <a:ext cx="3983355" cy="469702"/>
          </a:xfrm>
          <a:prstGeom prst="rect">
            <a:avLst/>
          </a:prstGeom>
          <a:noFill/>
          <a:ln/>
        </p:spPr>
        <p:txBody>
          <a:bodyPr wrap="square" lIns="0" tIns="101600" rIns="0" bIns="10160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Постоянные расходы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7950" y="1675954"/>
            <a:ext cx="3905250" cy="831652"/>
          </a:xfrm>
          <a:prstGeom prst="roundRect">
            <a:avLst>
              <a:gd name="adj" fmla="val 610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27000" y="1675954"/>
            <a:ext cx="0" cy="831652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3001" y="1891754"/>
            <a:ext cx="14703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Главред, ПМ, биздев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73001" y="2183755"/>
            <a:ext cx="14703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900"/>
              </a:spcAft>
              <a:buNone/>
            </a:pPr>
            <a:r>
              <a:rPr lang="en-US" sz="9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(Влад, Дима и автор)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03129" y="2015579"/>
            <a:ext cx="6967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3,000 EUR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7950" y="2558355"/>
            <a:ext cx="3905250" cy="831652"/>
          </a:xfrm>
          <a:prstGeom prst="roundRect">
            <a:avLst>
              <a:gd name="adj" fmla="val 610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27000" y="2558355"/>
            <a:ext cx="0" cy="831652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3001" y="2774156"/>
            <a:ext cx="172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Выпускающий редактор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3001" y="3066157"/>
            <a:ext cx="17214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900"/>
              </a:spcAft>
              <a:buNone/>
            </a:pPr>
            <a:r>
              <a:rPr lang="en-US" sz="9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(Петр)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73525" y="2888456"/>
            <a:ext cx="6249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130,000 ₽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7950" y="3440757"/>
            <a:ext cx="3905250" cy="831652"/>
          </a:xfrm>
          <a:prstGeom prst="roundRect">
            <a:avLst>
              <a:gd name="adj" fmla="val 610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27000" y="3440757"/>
            <a:ext cx="0" cy="831652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3001" y="3656558"/>
            <a:ext cx="148419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Линейный редактор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3001" y="3948559"/>
            <a:ext cx="14841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900"/>
              </a:spcAft>
              <a:buNone/>
            </a:pPr>
            <a:r>
              <a:rPr lang="en-US" sz="9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(вторая пара рук у Петра)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73525" y="3770858"/>
            <a:ext cx="6249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100,000 ₽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7950" y="4323159"/>
            <a:ext cx="3905250" cy="831652"/>
          </a:xfrm>
          <a:prstGeom prst="roundRect">
            <a:avLst>
              <a:gd name="adj" fmla="val 610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527000" y="4323159"/>
            <a:ext cx="0" cy="831652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3001" y="4538960"/>
            <a:ext cx="7403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Корректор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3001" y="4830961"/>
            <a:ext cx="7403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900"/>
              </a:spcAft>
              <a:buNone/>
            </a:pPr>
            <a:r>
              <a:rPr lang="en-US" sz="9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(Света)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751213" y="4653260"/>
            <a:ext cx="5457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85,000 ₽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91598" y="1079302"/>
            <a:ext cx="3983355" cy="469702"/>
          </a:xfrm>
          <a:prstGeom prst="rect">
            <a:avLst/>
          </a:prstGeom>
          <a:noFill/>
          <a:ln/>
        </p:spPr>
        <p:txBody>
          <a:bodyPr wrap="square" lIns="0" tIns="101600" rIns="0" bIns="10160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Переменные расходы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730651" y="1675954"/>
            <a:ext cx="3905250" cy="850702"/>
          </a:xfrm>
          <a:prstGeom prst="roundRect">
            <a:avLst>
              <a:gd name="adj" fmla="val 597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749701" y="1675954"/>
            <a:ext cx="0" cy="850702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5701" y="1891754"/>
            <a:ext cx="159015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Авторы-фрилансеры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95701" y="2183755"/>
            <a:ext cx="159015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900"/>
              </a:spcAft>
              <a:buNone/>
            </a:pPr>
            <a:r>
              <a:rPr lang="en-US" sz="9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₽ за знак + спешиалы х2-х3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896225" y="2015579"/>
            <a:ext cx="6249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100,000 ₽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30651" y="2590056"/>
            <a:ext cx="3983355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5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Спешиалы:</a:t>
            </a:r>
            <a:pPr algn="l" indent="0" marL="0">
              <a:lnSpc>
                <a:spcPts val="1170"/>
              </a:lnSpc>
              <a:spcBef>
                <a:spcPts val="5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Логвинов, Подшибякин, Врен и другие «старые голоса» — по х2-х3 цене от базового тарифа.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30651" y="3001417"/>
            <a:ext cx="3905250" cy="564952"/>
          </a:xfrm>
          <a:prstGeom prst="roundRect">
            <a:avLst>
              <a:gd name="adj" fmla="val 13488"/>
            </a:avLst>
          </a:prstGeom>
          <a:solidFill>
            <a:srgbClr val="FE44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795129" y="3102918"/>
            <a:ext cx="3776293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Итого редакционные расходы: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415,000 ₽ + 3,000 EUR в месяц NET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651950" cy="1015901"/>
          </a:xfrm>
          <a:prstGeom prst="rect">
            <a:avLst/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46013"/>
            <a:ext cx="449023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Экономика проекта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104602"/>
            <a:ext cx="8127950" cy="533102"/>
          </a:xfrm>
          <a:prstGeom prst="roundRect">
            <a:avLst>
              <a:gd name="adj" fmla="val 1429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27000" y="1104602"/>
            <a:ext cx="0" cy="533102"/>
          </a:xfrm>
          <a:prstGeom prst="line">
            <a:avLst/>
          </a:prstGeom>
          <a:noFill/>
          <a:ln w="38100">
            <a:solidFill>
              <a:srgbClr val="27788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6550" y="1206103"/>
            <a:ext cx="17732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 редакции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6550" y="1402854"/>
            <a:ext cx="17732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предварительным прикидкам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416165" y="1275904"/>
            <a:ext cx="10292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150-200 тыс ₽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7950" y="1701105"/>
            <a:ext cx="8127950" cy="533102"/>
          </a:xfrm>
          <a:prstGeom prst="roundRect">
            <a:avLst>
              <a:gd name="adj" fmla="val 1429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27000" y="1701105"/>
            <a:ext cx="0" cy="533102"/>
          </a:xfrm>
          <a:prstGeom prst="line">
            <a:avLst/>
          </a:prstGeom>
          <a:noFill/>
          <a:ln w="38100">
            <a:solidFill>
              <a:srgbClr val="27788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6550" y="1802606"/>
            <a:ext cx="14532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Печать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6550" y="1999357"/>
            <a:ext cx="14532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экземпляров по 40 стр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813741" y="1872407"/>
            <a:ext cx="63165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 тыс ₽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7950" y="2297609"/>
            <a:ext cx="8127950" cy="533102"/>
          </a:xfrm>
          <a:prstGeom prst="roundRect">
            <a:avLst>
              <a:gd name="adj" fmla="val 1429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27000" y="2297609"/>
            <a:ext cx="0" cy="533102"/>
          </a:xfrm>
          <a:prstGeom prst="line">
            <a:avLst/>
          </a:prstGeom>
          <a:noFill/>
          <a:ln w="38100">
            <a:solidFill>
              <a:srgbClr val="27788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6550" y="2399109"/>
            <a:ext cx="130931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Дизайн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6550" y="2595860"/>
            <a:ext cx="13093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Верстка одного выпуска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813741" y="2468910"/>
            <a:ext cx="63165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 тыс ₽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7950" y="2957661"/>
            <a:ext cx="8127950" cy="1025426"/>
          </a:xfrm>
          <a:prstGeom prst="roundRect">
            <a:avLst>
              <a:gd name="adj" fmla="val 9908"/>
            </a:avLst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82119" y="3110061"/>
            <a:ext cx="797961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Себестоимость (без маржи)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989524" y="3421112"/>
            <a:ext cx="12003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выпуск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989524" y="3602087"/>
            <a:ext cx="120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290-350 тыс ₽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039539" y="3421112"/>
            <a:ext cx="11137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год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39539" y="3602087"/>
            <a:ext cx="11137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3.5-4.2 млн ₽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7950" y="4110038"/>
            <a:ext cx="8127950" cy="1034951"/>
          </a:xfrm>
          <a:prstGeom prst="roundRect">
            <a:avLst>
              <a:gd name="adj" fmla="val 9817"/>
            </a:avLst>
          </a:prstGeom>
          <a:solidFill>
            <a:srgbClr val="FE44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82119" y="4262438"/>
            <a:ext cx="797961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маржей 20%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82119" y="4535388"/>
            <a:ext cx="79796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350-420 тыс ₽ за выпуск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82119" y="4763988"/>
            <a:ext cx="79796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4.2-5 млн ₽ в год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7788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51681"/>
            <a:ext cx="7772400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960"/>
              </a:lnSpc>
              <a:spcAft>
                <a:spcPts val="20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Партнерский проект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62000" y="1108472"/>
            <a:ext cx="7620000" cy="1187648"/>
          </a:xfrm>
          <a:prstGeom prst="roundRect">
            <a:avLst>
              <a:gd name="adj" fmla="val 10693"/>
            </a:avLst>
          </a:prstGeom>
          <a:solidFill>
            <a:srgbClr val="FFFFFF">
              <a:alpha val="10000"/>
            </a:srgbClr>
          </a:solidFill>
          <a:ln w="19050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99541" y="1318022"/>
            <a:ext cx="734491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Суть проекта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99541" y="1657648"/>
            <a:ext cx="7344918" cy="428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Первое за </a:t>
            </a:r>
            <a:pPr algn="ctr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лет</a:t>
            </a:r>
            <a:pPr algn="ctr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периодическое В2В издание для русскоязычного геймдева с глубокой проработкой тем и участием индустриальных экспертов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62000" y="2486620"/>
            <a:ext cx="7620000" cy="1187648"/>
          </a:xfrm>
          <a:prstGeom prst="roundRect">
            <a:avLst>
              <a:gd name="adj" fmla="val 10693"/>
            </a:avLst>
          </a:prstGeom>
          <a:solidFill>
            <a:srgbClr val="FFFFFF">
              <a:alpha val="10000"/>
            </a:srgbClr>
          </a:solidFill>
          <a:ln w="19050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99541" y="2696170"/>
            <a:ext cx="734491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преимущества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99541" y="3035796"/>
            <a:ext cx="7344918" cy="428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Верстка в стиле </a:t>
            </a:r>
            <a:pPr algn="ctr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игровых журналов 2010-х</a:t>
            </a:r>
            <a:pPr algn="ctr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special guests с журналистским прошлым, </a:t>
            </a:r>
            <a:pPr algn="ctr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взвешенная позиция</a:t>
            </a:r>
            <a:pPr algn="ctr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вместо гонки за новостями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62000" y="3874294"/>
            <a:ext cx="76200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4036219"/>
            <a:ext cx="77724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Референсы по дизайну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4321969"/>
            <a:ext cx="77724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Игромания начала 10-х годов — пик формы печатной журналистики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4556820"/>
            <a:ext cx="77724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Исходим из расчета </a:t>
            </a:r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экземпляров</a:t>
            </a:r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на выпуск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Журнал для игровой индустрии</dc:title>
  <dc:subject>PptxGenJS Presentation</dc:subject>
  <dc:creator>Futura Team</dc:creator>
  <cp:lastModifiedBy>Futura Team</cp:lastModifiedBy>
  <cp:revision>1</cp:revision>
  <dcterms:created xsi:type="dcterms:W3CDTF">2025-11-14T10:14:32Z</dcterms:created>
  <dcterms:modified xsi:type="dcterms:W3CDTF">2025-11-14T10:14:32Z</dcterms:modified>
</cp:coreProperties>
</file>